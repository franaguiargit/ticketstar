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0870c9bc-c71a-dfd1-c39e-c9e108a51e08}">
          <p14:sldIdLst>
            <p14:sldId id="256"/>
          </p14:sldIdLst>
        </p14:section>
        <p14:section name="La idea" id="{1e859e9e-1fc5-28b9-6d2a-78ac948fc3dc}">
          <p14:sldIdLst>
            <p14:sldId id="257"/>
            <p14:sldId id="258"/>
            <p14:sldId id="259"/>
          </p14:sldIdLst>
        </p14:section>
        <p14:section name="Vistas 4+1" id="{c313a611-cc45-a15b-f768-0c0d82e1f134}">
          <p14:sldIdLst>
            <p14:sldId id="260"/>
            <p14:sldId id="261"/>
            <p14:sldId id="262"/>
            <p14:sldId id="263"/>
            <p14:sldId id="264"/>
          </p14:sldIdLst>
        </p14:section>
        <p14:section name="Cierre" id="{98d21361-4e57-8307-2387-a05629586e8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propuesta de arquitectura de TicketStar, un servicio de venta de entradas para teatros, clubes y productoras. Vamos a contar el problema, la idea y las cinco vistas del modelo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típico es la apertura de venta: mucha más gente que entradas al mismo tiempo. La idea es que el teatro no tenga que resolver eso: se lo resolvemos nosotros como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 está el sistema del cliente, con sus usuarios. A la derecha el nuestro. Toda la conexión entre los dos son la API REST y los webhooks.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clientes de prueba los hacemos en Node, para mostrar que la conexión no depende del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entidades principales son el cliente, el evento con sus funciones, sectores y butacas, la sesión de compra, la reserva, la orden, el pago, la entrada y el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reserva es REST porque la persona necesita un sí o un no en el momento. Lo que viene después va por la cola o por webhooks. El punto de concurrencia es la reserva: se resuelve con una sola operación en la base que solo reserva si la butaca sigue 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repo para que sea fácil levantar todo con docker compose up. El contrato de la API es lo más importante: si lo cambiamos sin querer le rompemos el sistema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del cliente corre aparte, como si fuera de otra empresa. Adentro de nuestro servidor, los servicios se hablan por la red interna de Docker; solo pagos y notificaciones salen a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escenario pasa por las cuatro vistas. El momento crítico es el paso 3, donde está la concurrencia.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 que sigue y con las preguntas que tenemos para 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_TITU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TicketStar · Entrega 1: Propuesta de arquitectura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TicketStar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Propuesta de arquitectura · Entrega 1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Programación Distribuida y Componentes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Francisco Aguiar · Rodrigo Rodriguez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problema</a:t>
            </a:r>
            <a:endParaRPr lang="en-US" sz="3000" dirty="0"/>
          </a:p>
        </p:txBody>
      </p:sp>
      <p:sp>
        <p:nvSpPr>
          <p:cNvPr id="3" name="problema"/>
          <p:cNvSpPr txBox="1"/>
          <p:nvPr/>
        </p:nvSpPr>
        <p:spPr>
          <a:xfrm>
            <a:off x="457200" y="1143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Cuando sale a la venta un evento grande, entra mucha más gente de la que hay entradas.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el sistema no está preparado se cae, o vende la misma butaca dos veces.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la puerta hay que controlar que una entrada no se use dos veces.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teatro o un club tiene su página y sus clientes: le falta la parte de la venta.</a:t>
            </a:r>
            <a:endParaRPr lang="en-US" sz="1600" dirty="0"/>
          </a:p>
        </p:txBody>
      </p:sp>
      <p:sp>
        <p:nvSpPr>
          <p:cNvPr id="4" name="caso-real"/>
          <p:cNvSpPr/>
          <p:nvPr/>
        </p:nvSpPr>
        <p:spPr>
          <a:xfrm>
            <a:off x="5669280" y="123444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accent4"/>
          </a:solidFill>
          <a:ln w="12700">
            <a:solidFill>
              <a:schemeClr val="accent3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Ticketmaster, 2022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sitio colapsó con la preventa de Taylor Swift.</a:t>
            </a:r>
            <a:endParaRPr lang="en-US" sz="1600" dirty="0"/>
          </a:p>
        </p:txBody>
      </p:sp>
      <p:sp>
        <p:nvSpPr>
          <p:cNvPr id="5" name="idea"/>
          <p:cNvSpPr/>
          <p:nvPr/>
        </p:nvSpPr>
        <p:spPr>
          <a:xfrm>
            <a:off x="5669280" y="283464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Nuestra idea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Ofrecer la venta de entradas como servicio, conectado al sistema de cada cliente.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Venta de entradas como servicio</a:t>
            </a:r>
            <a:endParaRPr lang="en-US" sz="3000" dirty="0"/>
          </a:p>
        </p:txBody>
      </p:sp>
      <p:pic>
        <p:nvPicPr>
          <p:cNvPr id="3" name="infografia" descr="Infografía de Ticket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7498080" cy="3337560"/>
          </a:xfrm>
          <a:prstGeom prst="rect">
            <a:avLst/>
          </a:prstGeom>
        </p:spPr>
      </p:pic>
      <p:sp>
        <p:nvSpPr>
          <p:cNvPr id="4" name="epigraf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El cliente nos llama por la API y nosotros le avisamos por webhooks cuando pasa algo.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Dos formas de conectarse</a:t>
            </a:r>
            <a:endParaRPr lang="en-US" sz="3000" dirty="0"/>
          </a:p>
        </p:txBody>
      </p:sp>
      <p:sp>
        <p:nvSpPr>
          <p:cNvPr id="3" name="forma-a"/>
          <p:cNvSpPr/>
          <p:nvPr/>
        </p:nvSpPr>
        <p:spPr>
          <a:xfrm>
            <a:off x="457200" y="118872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Forma A: checkout nuestro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cliente manda a la persona a una página nuestra, con su logo, y la recibe de vuelta cuando terminó. Es la más fácil de integrar. La va a usar el Teatro Avenida.</a:t>
            </a:r>
            <a:endParaRPr lang="en-US" sz="1600" dirty="0"/>
          </a:p>
        </p:txBody>
      </p:sp>
      <p:sp>
        <p:nvSpPr>
          <p:cNvPr id="4" name="forma-b"/>
          <p:cNvSpPr/>
          <p:nvPr/>
        </p:nvSpPr>
        <p:spPr>
          <a:xfrm>
            <a:off x="4709160" y="118872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Forma B: solo la API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cliente hace su propia pantalla de compra y nos usa solo por la API. Tiene más control pero programa más. La va a usar el Club Atlético.</a:t>
            </a:r>
            <a:endParaRPr lang="en-US" sz="1600" dirty="0"/>
          </a:p>
        </p:txBody>
      </p:sp>
      <p:sp>
        <p:nvSpPr>
          <p:cNvPr id="5" name="nota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dos usan la misma API: lo único que cambia es quién dibuja la pantalla.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 lógica</a:t>
            </a:r>
            <a:endParaRPr lang="en-US" sz="3000" dirty="0"/>
          </a:p>
        </p:txBody>
      </p:sp>
      <p:pic>
        <p:nvPicPr>
          <p:cNvPr id="3" name="vista-logica" descr="Diagrama de la vista lóg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8046720" cy="2743200"/>
          </a:xfrm>
          <a:prstGeom prst="rect">
            <a:avLst/>
          </a:prstGeom>
        </p:spPr>
      </p:pic>
      <p:sp>
        <p:nvSpPr>
          <p:cNvPr id="4" name="notas-logica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dato pertenece a un cliente y no se mezcla con el de otro.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datos personales de los compradores quedan del lado del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 de procesos</a:t>
            </a:r>
            <a:endParaRPr lang="en-US" sz="3000" dirty="0"/>
          </a:p>
        </p:txBody>
      </p:sp>
      <p:pic>
        <p:nvPicPr>
          <p:cNvPr id="3" name="vista-procesos" descr="Diagrama de secuencia de una compr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806440" cy="3703320"/>
          </a:xfrm>
          <a:prstGeom prst="rect">
            <a:avLst/>
          </a:prstGeom>
        </p:spPr>
      </p:pic>
      <p:sp>
        <p:nvSpPr>
          <p:cNvPr id="4" name="sincrono"/>
          <p:cNvSpPr/>
          <p:nvPr/>
        </p:nvSpPr>
        <p:spPr>
          <a:xfrm>
            <a:off x="6217920" y="10515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Síncrono (REST)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Reservar la butaca: la persona espera la respuesta.</a:t>
            </a:r>
            <a:endParaRPr lang="en-US" sz="1600" dirty="0"/>
          </a:p>
        </p:txBody>
      </p:sp>
      <p:sp>
        <p:nvSpPr>
          <p:cNvPr id="5" name="asincrono"/>
          <p:cNvSpPr/>
          <p:nvPr/>
        </p:nvSpPr>
        <p:spPr>
          <a:xfrm>
            <a:off x="6217920" y="228600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Asíncrono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Aviso de pago, mail con la entrada y aviso al cliente.</a:t>
            </a:r>
            <a:endParaRPr lang="en-US" sz="1600" dirty="0"/>
          </a:p>
        </p:txBody>
      </p:sp>
      <p:sp>
        <p:nvSpPr>
          <p:cNvPr id="6" name="concurrencia"/>
          <p:cNvSpPr/>
          <p:nvPr/>
        </p:nvSpPr>
        <p:spPr>
          <a:xfrm>
            <a:off x="6217920" y="352044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3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Concurrencia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Dos personas, la misma butaca: una sola operación en la 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 de desarrollo</a:t>
            </a:r>
            <a:endParaRPr lang="en-US" sz="3000" dirty="0"/>
          </a:p>
        </p:txBody>
      </p:sp>
      <p:sp>
        <p:nvSpPr>
          <p:cNvPr id="3" name="arbol"/>
          <p:cNvSpPr/>
          <p:nvPr/>
        </p:nvSpPr>
        <p:spPr>
          <a:xfrm>
            <a:off x="457200" y="1051560"/>
            <a:ext cx="3931920" cy="3246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ticketstar/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docker-compose.yml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gateway/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servicios/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eventos/   ordenes/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pagos/     acceso/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notificaciones/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facturacion/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contratos/       (OpenAPI)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clientes-demo/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teatro-avenida/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club-atletico/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pruebas/         (k6)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</a:t>
            </a:r>
            <a:endParaRPr lang="en-US" sz="1300" dirty="0"/>
          </a:p>
        </p:txBody>
      </p:sp>
      <p:sp>
        <p:nvSpPr>
          <p:cNvPr id="4" name="desarrollo"/>
          <p:cNvSpPr txBox="1"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solo repositorio, con una carpeta por servicio.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Primero el contrato de la API, después el código.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Nuestros servicios en Python con FastAPI.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clientes de prueba en Node, otro lenguaje a propósito.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rama por tarea y un tag por entrega.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 física</a:t>
            </a:r>
            <a:endParaRPr lang="en-US" sz="3000" dirty="0"/>
          </a:p>
        </p:txBody>
      </p:sp>
      <p:pic>
        <p:nvPicPr>
          <p:cNvPr id="3" name="vista-fisica" descr="Diagrama de la vista físic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8046720" cy="3429000"/>
          </a:xfrm>
          <a:prstGeom prst="rect">
            <a:avLst/>
          </a:prstGeom>
        </p:spPr>
      </p:pic>
      <p:sp>
        <p:nvSpPr>
          <p:cNvPr id="4" name="epigrafe-fisica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Once tipos de contenedor con Docker Compose. Desde afuera solo se llega al gateway.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Escenario: se abre la venta</a:t>
            </a:r>
            <a:endParaRPr lang="en-US" sz="3000" dirty="0"/>
          </a:p>
        </p:txBody>
      </p:sp>
      <p:sp>
        <p:nvSpPr>
          <p:cNvPr id="3" name="pasos"/>
          <p:cNvSpPr txBox="1"/>
          <p:nvPr/>
        </p:nvSpPr>
        <p:spPr>
          <a:xfrm>
            <a:off x="457200" y="1051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El cliente abre la compra por la API.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La persona espera su turno en la fila.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Pide la butaca: si otro se la llevó, elige de nuevo.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Paga con Mercado Pago, con las credenciales del cliente.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Se emite la entrada con su QR firmado.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Le avisamos al cliente y mandamos el mail.</a:t>
            </a:r>
            <a:endParaRPr lang="en-US" sz="1600" dirty="0"/>
          </a:p>
        </p:txBody>
      </p:sp>
      <p:sp>
        <p:nvSpPr>
          <p:cNvPr id="4" name="vista-lógica"/>
          <p:cNvSpPr/>
          <p:nvPr/>
        </p:nvSpPr>
        <p:spPr>
          <a:xfrm>
            <a:off x="5120640" y="1051560"/>
            <a:ext cx="3566160" cy="786384"/>
          </a:xfrm>
          <a:prstGeom prst="roundRect">
            <a:avLst>
              <a:gd name="adj" fmla="val 9302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Lógica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Butaca, reserva, orden y entrada.</a:t>
            </a:r>
            <a:endParaRPr lang="en-US" sz="1600" dirty="0"/>
          </a:p>
        </p:txBody>
      </p:sp>
      <p:sp>
        <p:nvSpPr>
          <p:cNvPr id="5" name="vista-procesos"/>
          <p:cNvSpPr/>
          <p:nvPr/>
        </p:nvSpPr>
        <p:spPr>
          <a:xfrm>
            <a:off x="5120640" y="1947672"/>
            <a:ext cx="3566160" cy="786384"/>
          </a:xfrm>
          <a:prstGeom prst="roundRect">
            <a:avLst>
              <a:gd name="adj" fmla="val 9302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Reserva por REST; lo demás, asíncrono.</a:t>
            </a:r>
            <a:endParaRPr lang="en-US" sz="1600" dirty="0"/>
          </a:p>
        </p:txBody>
      </p:sp>
      <p:sp>
        <p:nvSpPr>
          <p:cNvPr id="6" name="vista-desarrollo"/>
          <p:cNvSpPr/>
          <p:nvPr/>
        </p:nvSpPr>
        <p:spPr>
          <a:xfrm>
            <a:off x="5120640" y="2843784"/>
            <a:ext cx="3566160" cy="786384"/>
          </a:xfrm>
          <a:prstGeom prst="roundRect">
            <a:avLst>
              <a:gd name="adj" fmla="val 9302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Desarrollo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Órdenes, pagos, notificaciones y la API.</a:t>
            </a:r>
            <a:endParaRPr lang="en-US" sz="1600" dirty="0"/>
          </a:p>
        </p:txBody>
      </p:sp>
      <p:sp>
        <p:nvSpPr>
          <p:cNvPr id="7" name="vista-física"/>
          <p:cNvSpPr/>
          <p:nvPr/>
        </p:nvSpPr>
        <p:spPr>
          <a:xfrm>
            <a:off x="5120640" y="3739896"/>
            <a:ext cx="3566160" cy="786384"/>
          </a:xfrm>
          <a:prstGeom prst="roundRect">
            <a:avLst>
              <a:gd name="adj" fmla="val 9302"/>
            </a:avLst>
          </a:prstGeom>
          <a:solidFill>
            <a:schemeClr val="accent2"/>
          </a:solidFill>
          <a:ln w="12700">
            <a:solidFill>
              <a:schemeClr val="accent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Física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Gateway, órdenes, Postgres y RabbitMQ.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Próximos pasos</a:t>
            </a:r>
            <a:endParaRPr lang="en-US" sz="3000" dirty="0"/>
          </a:p>
        </p:txBody>
      </p:sp>
      <p:sp>
        <p:nvSpPr>
          <p:cNvPr id="3" name="viene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Lo que viene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Entrega 2: el esqueleto con los contenedores separados.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Entrega 3: la reserva de butacas y la prueba de concurrencia.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Entrega 4: el contrato de la API y el descubrimiento de servicios.</a:t>
            </a:r>
            <a:endParaRPr lang="en-US" sz="1800" dirty="0"/>
          </a:p>
        </p:txBody>
      </p:sp>
      <p:sp>
        <p:nvSpPr>
          <p:cNvPr id="4" name="consultas"/>
          <p:cNvSpPr txBox="1"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Lo que queremos consultar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Si los clientes de prueba cuentan como parte de la entrega.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Si el sistema del cliente sirve como segundo nodo del módulo 2.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Si la pasarela de pago puede ser simulada.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cketStar">
  <a:themeElements>
    <a:clrScheme name="TicketStar">
      <a:dk1>
        <a:srgbClr val="222222"/>
      </a:dk1>
      <a:lt1>
        <a:srgbClr val="FFFFFF"/>
      </a:lt1>
      <a:dk2>
        <a:srgbClr val="1F3864"/>
      </a:dk2>
      <a:lt2>
        <a:srgbClr val="DCE4F2"/>
      </a:lt2>
      <a:accent1>
        <a:srgbClr val="2E4E82"/>
      </a:accent1>
      <a:accent2>
        <a:srgbClr val="DAE8FC"/>
      </a:accent2>
      <a:accent3>
        <a:srgbClr val="D79B00"/>
      </a:accent3>
      <a:accent4>
        <a:srgbClr val="FFF2CC"/>
      </a:accent4>
      <a:accent5>
        <a:srgbClr val="6C8EBF"/>
      </a:accent5>
      <a:accent6>
        <a:srgbClr val="7F7F7F"/>
      </a:accent6>
      <a:hlink>
        <a:srgbClr val="2E4E82"/>
      </a:hlink>
      <a:folHlink>
        <a:srgbClr val="6B5400"/>
      </a:folHlink>
    </a:clrScheme>
    <a:fontScheme name="TicketSt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TicketStar - Entrega 1: Propuesta de arquitectura</dc:title>
  <dc:subject>PptxGenJS Presentation</dc:subject>
  <dc:creator>Francisco Aguiar</dc:creator>
  <cp:lastModifiedBy>Francisco Aguiar</cp:lastModifiedBy>
  <cp:revision>1</cp:revision>
  <dcterms:created xsi:type="dcterms:W3CDTF">2026-10-08T22:22:53Z</dcterms:created>
  <dcterms:modified xsi:type="dcterms:W3CDTF">2026-10-08T22:22:53Z</dcterms:modified>
</cp:coreProperties>
</file>